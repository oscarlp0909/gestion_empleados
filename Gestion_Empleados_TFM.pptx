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1695" cy="6858000" type="screen4x3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4444FC-BE9E-7557-079F-4B2DAF9858A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367897-C40D-3EEC-F9ED-3F039DAB8A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83632E-BD4F-46D0-35C6-EE8D4E17769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178922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520890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3969659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9806125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29242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674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5562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133648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2542429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704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5665539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25713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023447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3047784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83731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9947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7665314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400707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52602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20908527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8298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3513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046280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878689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552720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688648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6204999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64779641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8547752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91405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893882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925736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2327898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8799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74162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602362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40132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498625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401716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161512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50843577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627507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916287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5005548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882910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691262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4693999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4763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8953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485777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26952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746064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8742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85766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037877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922972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75658742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85449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87200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506975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6861811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CAD085-E8A6-8845-BD4E-CB4CCA059FC4}" type="datetimeFigureOut">
              <a:rPr lang="en-US"/>
              <a:t>1/27/13</a:t>
            </a:fld>
            <a:endParaRPr lang="en-US"/>
          </a:p>
        </p:txBody>
      </p:sp>
      <p:sp>
        <p:nvSpPr>
          <p:cNvPr id="10521982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7897259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FE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961334" name="TextBox 1"/>
          <p:cNvSpPr txBox="1"/>
          <p:nvPr/>
        </p:nvSpPr>
        <p:spPr bwMode="auto">
          <a:xfrm>
            <a:off x="461771" y="274320"/>
            <a:ext cx="8229960" cy="25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0" i="0">
                <a:solidFill>
                  <a:srgbClr val="55605A"/>
                </a:solidFill>
                <a:latin typeface="Consolas"/>
              </a:rPr>
              <a:t>Gestión de </a:t>
            </a:r>
            <a:r>
              <a:rPr lang="es-ES" sz="1100" b="0" i="0">
                <a:solidFill>
                  <a:srgbClr val="55605A"/>
                </a:solidFill>
                <a:latin typeface="Consolas"/>
              </a:rPr>
              <a:t>Empleados </a:t>
            </a:r>
            <a:r>
              <a:rPr sz="1100" b="0" i="0">
                <a:solidFill>
                  <a:srgbClr val="55605A"/>
                </a:solidFill>
                <a:latin typeface="Consolas"/>
              </a:rPr>
              <a:t>— TFM</a:t>
            </a:r>
            <a:endParaRPr/>
          </a:p>
        </p:txBody>
      </p:sp>
      <p:sp>
        <p:nvSpPr>
          <p:cNvPr id="1989049834" name="TextBox 2"/>
          <p:cNvSpPr txBox="1"/>
          <p:nvPr/>
        </p:nvSpPr>
        <p:spPr bwMode="auto"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55605A"/>
                </a:solidFill>
                <a:latin typeface="Consolas"/>
              </a:rPr>
              <a:t>01 / 03</a:t>
            </a:r>
            <a:endParaRPr/>
          </a:p>
        </p:txBody>
      </p:sp>
      <p:cxnSp>
        <p:nvCxnSpPr>
          <p:cNvPr id="121325667" name="Connector 3"/>
          <p:cNvCxnSpPr/>
          <p:nvPr/>
        </p:nvCxnSpPr>
        <p:spPr bwMode="auto"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CBD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5186709" name="TextBox 4"/>
          <p:cNvSpPr txBox="1"/>
          <p:nvPr/>
        </p:nvSpPr>
        <p:spPr bwMode="auto"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 i="0">
                <a:solidFill>
                  <a:srgbClr val="1B211D"/>
                </a:solidFill>
                <a:latin typeface="Archivo Black"/>
              </a:rPr>
              <a:t>Tecnologías utilizadas</a:t>
            </a:r>
            <a:endParaRPr/>
          </a:p>
        </p:txBody>
      </p:sp>
      <p:sp>
        <p:nvSpPr>
          <p:cNvPr id="758570292" name="TextBox 5"/>
          <p:cNvSpPr txBox="1"/>
          <p:nvPr/>
        </p:nvSpPr>
        <p:spPr bwMode="auto">
          <a:xfrm>
            <a:off x="4572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55605A"/>
                </a:solidFill>
                <a:latin typeface="IBM Plex Sans"/>
              </a:rPr>
              <a:t>Aplicación fullstack para la gestión de empleados y contratos, con autenticación por roles y auditoría de acciones.</a:t>
            </a:r>
            <a:endParaRPr/>
          </a:p>
        </p:txBody>
      </p:sp>
      <p:sp>
        <p:nvSpPr>
          <p:cNvPr id="274575666" name="Rounded Rectangle 6"/>
          <p:cNvSpPr/>
          <p:nvPr/>
        </p:nvSpPr>
        <p:spPr bwMode="auto">
          <a:xfrm>
            <a:off x="457200" y="2103120"/>
            <a:ext cx="3611880" cy="420624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87931593" name="TextBox 7"/>
          <p:cNvSpPr txBox="1"/>
          <p:nvPr/>
        </p:nvSpPr>
        <p:spPr bwMode="auto">
          <a:xfrm>
            <a:off x="685800" y="2286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1" i="0">
                <a:solidFill>
                  <a:srgbClr val="2F6B5E"/>
                </a:solidFill>
                <a:latin typeface="Archivo Black"/>
              </a:rPr>
              <a:t>Backend</a:t>
            </a:r>
            <a:endParaRPr/>
          </a:p>
        </p:txBody>
      </p:sp>
      <p:sp>
        <p:nvSpPr>
          <p:cNvPr id="250225527" name="TextBox 8"/>
          <p:cNvSpPr txBox="1"/>
          <p:nvPr/>
        </p:nvSpPr>
        <p:spPr bwMode="auto">
          <a:xfrm>
            <a:off x="685800" y="2651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API REST · autenticación · lógica de negocio</a:t>
            </a:r>
            <a:endParaRPr/>
          </a:p>
        </p:txBody>
      </p:sp>
      <p:sp>
        <p:nvSpPr>
          <p:cNvPr id="642906507" name="Rounded Rectangle 9"/>
          <p:cNvSpPr/>
          <p:nvPr/>
        </p:nvSpPr>
        <p:spPr bwMode="auto">
          <a:xfrm>
            <a:off x="685800" y="3154680"/>
            <a:ext cx="726948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Node.js</a:t>
            </a:r>
            <a:endParaRPr/>
          </a:p>
        </p:txBody>
      </p:sp>
      <p:sp>
        <p:nvSpPr>
          <p:cNvPr id="1715440006" name="Rounded Rectangle 10"/>
          <p:cNvSpPr/>
          <p:nvPr/>
        </p:nvSpPr>
        <p:spPr bwMode="auto">
          <a:xfrm>
            <a:off x="1485900" y="3154680"/>
            <a:ext cx="882396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Express 5</a:t>
            </a:r>
            <a:endParaRPr/>
          </a:p>
        </p:txBody>
      </p:sp>
      <p:sp>
        <p:nvSpPr>
          <p:cNvPr id="1641085550" name="Rounded Rectangle 11"/>
          <p:cNvSpPr/>
          <p:nvPr/>
        </p:nvSpPr>
        <p:spPr bwMode="auto">
          <a:xfrm>
            <a:off x="2441448" y="31546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TypeScript</a:t>
            </a:r>
            <a:endParaRPr/>
          </a:p>
        </p:txBody>
      </p:sp>
      <p:sp>
        <p:nvSpPr>
          <p:cNvPr id="242744857" name="Rounded Rectangle 12"/>
          <p:cNvSpPr/>
          <p:nvPr/>
        </p:nvSpPr>
        <p:spPr bwMode="auto">
          <a:xfrm>
            <a:off x="685800" y="3538728"/>
            <a:ext cx="726948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MongoDB</a:t>
            </a:r>
            <a:endParaRPr/>
          </a:p>
        </p:txBody>
      </p:sp>
      <p:sp>
        <p:nvSpPr>
          <p:cNvPr id="1032779504" name="Rounded Rectangle 13"/>
          <p:cNvSpPr/>
          <p:nvPr/>
        </p:nvSpPr>
        <p:spPr bwMode="auto">
          <a:xfrm>
            <a:off x="1485900" y="3538728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Mongoose</a:t>
            </a:r>
            <a:endParaRPr/>
          </a:p>
        </p:txBody>
      </p:sp>
      <p:sp>
        <p:nvSpPr>
          <p:cNvPr id="640245372" name="Rounded Rectangle 14"/>
          <p:cNvSpPr/>
          <p:nvPr/>
        </p:nvSpPr>
        <p:spPr bwMode="auto">
          <a:xfrm>
            <a:off x="2363724" y="3538728"/>
            <a:ext cx="1037844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Passport.js</a:t>
            </a:r>
            <a:endParaRPr/>
          </a:p>
        </p:txBody>
      </p:sp>
      <p:sp>
        <p:nvSpPr>
          <p:cNvPr id="1338770927" name="Rounded Rectangle 15"/>
          <p:cNvSpPr/>
          <p:nvPr/>
        </p:nvSpPr>
        <p:spPr bwMode="auto">
          <a:xfrm>
            <a:off x="685800" y="3922776"/>
            <a:ext cx="416052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JWT</a:t>
            </a:r>
            <a:endParaRPr/>
          </a:p>
        </p:txBody>
      </p:sp>
      <p:sp>
        <p:nvSpPr>
          <p:cNvPr id="1992806105" name="Rounded Rectangle 16"/>
          <p:cNvSpPr/>
          <p:nvPr/>
        </p:nvSpPr>
        <p:spPr bwMode="auto">
          <a:xfrm>
            <a:off x="1175004" y="3922776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bcrypt</a:t>
            </a:r>
            <a:endParaRPr/>
          </a:p>
        </p:txBody>
      </p:sp>
      <p:sp>
        <p:nvSpPr>
          <p:cNvPr id="1216765004" name="Rounded Rectangle 17"/>
          <p:cNvSpPr/>
          <p:nvPr/>
        </p:nvSpPr>
        <p:spPr bwMode="auto">
          <a:xfrm>
            <a:off x="1897380" y="3922776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Jest</a:t>
            </a:r>
            <a:endParaRPr/>
          </a:p>
        </p:txBody>
      </p:sp>
      <p:cxnSp>
        <p:nvCxnSpPr>
          <p:cNvPr id="965123383" name="Connector 18"/>
          <p:cNvCxnSpPr/>
          <p:nvPr/>
        </p:nvCxnSpPr>
        <p:spPr bwMode="auto">
          <a:xfrm>
            <a:off x="685800" y="5257800"/>
            <a:ext cx="3154680" cy="0"/>
          </a:xfrm>
          <a:prstGeom prst="line">
            <a:avLst/>
          </a:prstGeom>
          <a:ln w="9525">
            <a:solidFill>
              <a:srgbClr val="CBD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2321155" name="TextBox 19"/>
          <p:cNvSpPr txBox="1"/>
          <p:nvPr/>
        </p:nvSpPr>
        <p:spPr bwMode="auto">
          <a:xfrm>
            <a:off x="685800" y="53492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Tarea programada (setInterval) que actualiza el estado de los contratos automáticamente.</a:t>
            </a:r>
            <a:endParaRPr/>
          </a:p>
        </p:txBody>
      </p:sp>
      <p:sp>
        <p:nvSpPr>
          <p:cNvPr id="655216371" name="Rounded Rectangle 20"/>
          <p:cNvSpPr/>
          <p:nvPr/>
        </p:nvSpPr>
        <p:spPr bwMode="auto">
          <a:xfrm>
            <a:off x="4297680" y="2103120"/>
            <a:ext cx="3611880" cy="420624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95229862" name="TextBox 21"/>
          <p:cNvSpPr txBox="1"/>
          <p:nvPr/>
        </p:nvSpPr>
        <p:spPr bwMode="auto">
          <a:xfrm>
            <a:off x="4526280" y="2286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1" i="0">
                <a:solidFill>
                  <a:srgbClr val="2F6B5E"/>
                </a:solidFill>
                <a:latin typeface="Archivo Black"/>
              </a:rPr>
              <a:t>Frontend</a:t>
            </a:r>
            <a:endParaRPr/>
          </a:p>
        </p:txBody>
      </p:sp>
      <p:sp>
        <p:nvSpPr>
          <p:cNvPr id="371431556" name="TextBox 22"/>
          <p:cNvSpPr txBox="1"/>
          <p:nvPr/>
        </p:nvSpPr>
        <p:spPr bwMode="auto">
          <a:xfrm>
            <a:off x="4526280" y="2651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Interfaz de usuario</a:t>
            </a:r>
            <a:endParaRPr/>
          </a:p>
        </p:txBody>
      </p:sp>
      <p:sp>
        <p:nvSpPr>
          <p:cNvPr id="132182250" name="Rounded Rectangle 23"/>
          <p:cNvSpPr/>
          <p:nvPr/>
        </p:nvSpPr>
        <p:spPr bwMode="auto">
          <a:xfrm>
            <a:off x="4526280" y="3154680"/>
            <a:ext cx="571500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React</a:t>
            </a:r>
            <a:endParaRPr/>
          </a:p>
        </p:txBody>
      </p:sp>
      <p:sp>
        <p:nvSpPr>
          <p:cNvPr id="634784982" name="Rounded Rectangle 24"/>
          <p:cNvSpPr/>
          <p:nvPr/>
        </p:nvSpPr>
        <p:spPr bwMode="auto">
          <a:xfrm>
            <a:off x="5170932" y="3154680"/>
            <a:ext cx="493776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Vite</a:t>
            </a:r>
            <a:endParaRPr/>
          </a:p>
        </p:txBody>
      </p:sp>
      <p:sp>
        <p:nvSpPr>
          <p:cNvPr id="1791290101" name="Rounded Rectangle 25"/>
          <p:cNvSpPr/>
          <p:nvPr/>
        </p:nvSpPr>
        <p:spPr bwMode="auto">
          <a:xfrm>
            <a:off x="5737860" y="3154680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TypeScript</a:t>
            </a:r>
            <a:endParaRPr/>
          </a:p>
        </p:txBody>
      </p:sp>
      <p:cxnSp>
        <p:nvCxnSpPr>
          <p:cNvPr id="738983794" name="Connector 26"/>
          <p:cNvCxnSpPr/>
          <p:nvPr/>
        </p:nvCxnSpPr>
        <p:spPr bwMode="auto">
          <a:xfrm>
            <a:off x="4526280" y="5257800"/>
            <a:ext cx="3154680" cy="0"/>
          </a:xfrm>
          <a:prstGeom prst="line">
            <a:avLst/>
          </a:prstGeom>
          <a:ln w="9525">
            <a:solidFill>
              <a:srgbClr val="CBD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0885924" name="TextBox 27"/>
          <p:cNvSpPr txBox="1"/>
          <p:nvPr/>
        </p:nvSpPr>
        <p:spPr bwMode="auto">
          <a:xfrm>
            <a:off x="4526280" y="53492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Consumo de la API mediante servicios dedicados por dominio (empleados, contratos, usuarios, auditoría).</a:t>
            </a:r>
            <a:endParaRPr/>
          </a:p>
        </p:txBody>
      </p:sp>
      <p:sp>
        <p:nvSpPr>
          <p:cNvPr id="506217841" name="Rounded Rectangle 28"/>
          <p:cNvSpPr/>
          <p:nvPr/>
        </p:nvSpPr>
        <p:spPr bwMode="auto">
          <a:xfrm>
            <a:off x="8138160" y="2103120"/>
            <a:ext cx="3611880" cy="420624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2871644" name="TextBox 29"/>
          <p:cNvSpPr txBox="1"/>
          <p:nvPr/>
        </p:nvSpPr>
        <p:spPr bwMode="auto">
          <a:xfrm>
            <a:off x="8366760" y="228600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600" b="1" i="0">
                <a:solidFill>
                  <a:srgbClr val="2F6B5E"/>
                </a:solidFill>
                <a:latin typeface="Archivo Black"/>
              </a:rPr>
              <a:t>Infraestructura</a:t>
            </a:r>
            <a:endParaRPr/>
          </a:p>
        </p:txBody>
      </p:sp>
      <p:sp>
        <p:nvSpPr>
          <p:cNvPr id="1066918563" name="TextBox 30"/>
          <p:cNvSpPr txBox="1"/>
          <p:nvPr/>
        </p:nvSpPr>
        <p:spPr bwMode="auto">
          <a:xfrm>
            <a:off x="8366760" y="2651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Despliegue y entorno</a:t>
            </a:r>
            <a:endParaRPr/>
          </a:p>
        </p:txBody>
      </p:sp>
      <p:sp>
        <p:nvSpPr>
          <p:cNvPr id="1909232086" name="Rounded Rectangle 31"/>
          <p:cNvSpPr/>
          <p:nvPr/>
        </p:nvSpPr>
        <p:spPr bwMode="auto">
          <a:xfrm>
            <a:off x="8366760" y="315468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Docker</a:t>
            </a:r>
            <a:endParaRPr/>
          </a:p>
        </p:txBody>
      </p:sp>
      <p:sp>
        <p:nvSpPr>
          <p:cNvPr id="150534595" name="Rounded Rectangle 32"/>
          <p:cNvSpPr/>
          <p:nvPr/>
        </p:nvSpPr>
        <p:spPr bwMode="auto">
          <a:xfrm>
            <a:off x="9089136" y="315468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Docker Compose</a:t>
            </a:r>
            <a:endParaRPr/>
          </a:p>
        </p:txBody>
      </p:sp>
      <p:sp>
        <p:nvSpPr>
          <p:cNvPr id="2099346536" name="Rounded Rectangle 33"/>
          <p:cNvSpPr/>
          <p:nvPr/>
        </p:nvSpPr>
        <p:spPr bwMode="auto">
          <a:xfrm>
            <a:off x="10433304" y="3154680"/>
            <a:ext cx="571500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Nginx</a:t>
            </a:r>
            <a:endParaRPr/>
          </a:p>
        </p:txBody>
      </p:sp>
      <p:sp>
        <p:nvSpPr>
          <p:cNvPr id="1923105122" name="Rounded Rectangle 34"/>
          <p:cNvSpPr/>
          <p:nvPr/>
        </p:nvSpPr>
        <p:spPr bwMode="auto">
          <a:xfrm>
            <a:off x="8366760" y="3538728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EAF3EF"/>
          </a:solidFill>
          <a:ln w="9525">
            <a:solidFill>
              <a:srgbClr val="2F6B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12700" rIns="50800" bIns="12700" rtlCol="0" anchor="ctr"/>
          <a:lstStyle/>
          <a:p>
            <a:pPr algn="ctr">
              <a:defRPr/>
            </a:pPr>
            <a:r>
              <a:rPr sz="1050" b="0" i="0">
                <a:solidFill>
                  <a:srgbClr val="2F6B5E"/>
                </a:solidFill>
                <a:latin typeface="Consolas"/>
              </a:rPr>
              <a:t>GitHub Actions</a:t>
            </a:r>
            <a:endParaRPr/>
          </a:p>
        </p:txBody>
      </p:sp>
      <p:cxnSp>
        <p:nvCxnSpPr>
          <p:cNvPr id="1218000658" name="Connector 35"/>
          <p:cNvCxnSpPr/>
          <p:nvPr/>
        </p:nvCxnSpPr>
        <p:spPr bwMode="auto">
          <a:xfrm>
            <a:off x="8366760" y="5257800"/>
            <a:ext cx="3154680" cy="0"/>
          </a:xfrm>
          <a:prstGeom prst="line">
            <a:avLst/>
          </a:prstGeom>
          <a:ln w="9525">
            <a:solidFill>
              <a:srgbClr val="CBD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406727" name="TextBox 36"/>
          <p:cNvSpPr txBox="1"/>
          <p:nvPr/>
        </p:nvSpPr>
        <p:spPr bwMode="auto">
          <a:xfrm>
            <a:off x="8366760" y="534924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Entornos separados de producción y desarrollo (hot-reload) orquestados con Docker Compose.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FE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1530329" name="TextBox 1"/>
          <p:cNvSpPr txBox="1"/>
          <p:nvPr/>
        </p:nvSpPr>
        <p:spPr bwMode="auto"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0" i="0">
                <a:solidFill>
                  <a:srgbClr val="55605A"/>
                </a:solidFill>
                <a:latin typeface="Consolas"/>
              </a:rPr>
              <a:t>Gestión de Empleados — TFM</a:t>
            </a:r>
            <a:endParaRPr/>
          </a:p>
        </p:txBody>
      </p:sp>
      <p:sp>
        <p:nvSpPr>
          <p:cNvPr id="814178082" name="TextBox 2"/>
          <p:cNvSpPr txBox="1"/>
          <p:nvPr/>
        </p:nvSpPr>
        <p:spPr bwMode="auto"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55605A"/>
                </a:solidFill>
                <a:latin typeface="Consolas"/>
              </a:rPr>
              <a:t>02 / 03</a:t>
            </a:r>
            <a:endParaRPr/>
          </a:p>
        </p:txBody>
      </p:sp>
      <p:cxnSp>
        <p:nvCxnSpPr>
          <p:cNvPr id="1213012103" name="Connector 3"/>
          <p:cNvCxnSpPr/>
          <p:nvPr/>
        </p:nvCxnSpPr>
        <p:spPr bwMode="auto"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CBD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6818625" name="TextBox 4"/>
          <p:cNvSpPr txBox="1"/>
          <p:nvPr/>
        </p:nvSpPr>
        <p:spPr bwMode="auto"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 i="0">
                <a:solidFill>
                  <a:srgbClr val="1B211D"/>
                </a:solidFill>
                <a:latin typeface="Archivo Black"/>
              </a:rPr>
              <a:t>Funcionalidades</a:t>
            </a:r>
            <a:endParaRPr/>
          </a:p>
        </p:txBody>
      </p:sp>
      <p:sp>
        <p:nvSpPr>
          <p:cNvPr id="1598042718" name="TextBox 5"/>
          <p:cNvSpPr txBox="1"/>
          <p:nvPr/>
        </p:nvSpPr>
        <p:spPr bwMode="auto">
          <a:xfrm>
            <a:off x="457200" y="1417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55605A"/>
                </a:solidFill>
                <a:latin typeface="IBM Plex Sans"/>
              </a:rPr>
              <a:t>Cuatro roles con permisos distintos (ADMIN, HR_MANAGER, MANAGER, EMPLOYEE) sobre un núcleo común de gestión.</a:t>
            </a:r>
            <a:endParaRPr/>
          </a:p>
        </p:txBody>
      </p:sp>
      <p:sp>
        <p:nvSpPr>
          <p:cNvPr id="551256378" name="Rounded Rectangle 6"/>
          <p:cNvSpPr/>
          <p:nvPr/>
        </p:nvSpPr>
        <p:spPr bwMode="auto">
          <a:xfrm>
            <a:off x="457200" y="2057400"/>
            <a:ext cx="5486400" cy="178308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60877078" name="Oval 7"/>
          <p:cNvSpPr/>
          <p:nvPr/>
        </p:nvSpPr>
        <p:spPr bwMode="auto">
          <a:xfrm>
            <a:off x="658368" y="2304288"/>
            <a:ext cx="82296" cy="82296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85290598" name="TextBox 8"/>
          <p:cNvSpPr txBox="1"/>
          <p:nvPr/>
        </p:nvSpPr>
        <p:spPr bwMode="auto">
          <a:xfrm>
            <a:off x="82296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1" i="0">
                <a:solidFill>
                  <a:srgbClr val="1B211D"/>
                </a:solidFill>
                <a:latin typeface="IBM Plex Sans"/>
              </a:rPr>
              <a:t>Autenticación y usuarios</a:t>
            </a:r>
            <a:endParaRPr/>
          </a:p>
        </p:txBody>
      </p:sp>
      <p:sp>
        <p:nvSpPr>
          <p:cNvPr id="1658028173" name="TextBox 9"/>
          <p:cNvSpPr txBox="1"/>
          <p:nvPr/>
        </p:nvSpPr>
        <p:spPr bwMode="auto">
          <a:xfrm>
            <a:off x="658368" y="260604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Login con JWT en cookie httpOnly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Perfil propio y cambio de contraseña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Alta de usuarios, cambio de rol, activar / desactivar</a:t>
            </a:r>
            <a:endParaRPr/>
          </a:p>
        </p:txBody>
      </p:sp>
      <p:sp>
        <p:nvSpPr>
          <p:cNvPr id="110515922" name="Rounded Rectangle 10"/>
          <p:cNvSpPr/>
          <p:nvPr/>
        </p:nvSpPr>
        <p:spPr bwMode="auto">
          <a:xfrm>
            <a:off x="6172200" y="2057400"/>
            <a:ext cx="5486400" cy="178308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35483187" name="Oval 11"/>
          <p:cNvSpPr/>
          <p:nvPr/>
        </p:nvSpPr>
        <p:spPr bwMode="auto">
          <a:xfrm>
            <a:off x="6373368" y="2304288"/>
            <a:ext cx="82296" cy="82296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3856985" name="TextBox 12"/>
          <p:cNvSpPr txBox="1"/>
          <p:nvPr/>
        </p:nvSpPr>
        <p:spPr bwMode="auto">
          <a:xfrm>
            <a:off x="6537960" y="2194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1" i="0">
                <a:solidFill>
                  <a:srgbClr val="1B211D"/>
                </a:solidFill>
                <a:latin typeface="IBM Plex Sans"/>
              </a:rPr>
              <a:t>Empleados</a:t>
            </a:r>
            <a:endParaRPr/>
          </a:p>
        </p:txBody>
      </p:sp>
      <p:sp>
        <p:nvSpPr>
          <p:cNvPr id="709664492" name="TextBox 13"/>
          <p:cNvSpPr txBox="1"/>
          <p:nvPr/>
        </p:nvSpPr>
        <p:spPr bwMode="auto">
          <a:xfrm>
            <a:off x="6373368" y="260604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Alta, edición y baja de empleados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Consulta por ID o por NIF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Ficha de empleado con sus contratos</a:t>
            </a:r>
            <a:endParaRPr/>
          </a:p>
        </p:txBody>
      </p:sp>
      <p:sp>
        <p:nvSpPr>
          <p:cNvPr id="762534952" name="Rounded Rectangle 14"/>
          <p:cNvSpPr/>
          <p:nvPr/>
        </p:nvSpPr>
        <p:spPr bwMode="auto">
          <a:xfrm>
            <a:off x="457200" y="4023360"/>
            <a:ext cx="5486400" cy="178308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4148787" name="Oval 15"/>
          <p:cNvSpPr/>
          <p:nvPr/>
        </p:nvSpPr>
        <p:spPr bwMode="auto">
          <a:xfrm>
            <a:off x="658368" y="4270248"/>
            <a:ext cx="82296" cy="82296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44271864" name="TextBox 16"/>
          <p:cNvSpPr txBox="1"/>
          <p:nvPr/>
        </p:nvSpPr>
        <p:spPr bwMode="auto">
          <a:xfrm>
            <a:off x="822960" y="4160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1" i="0">
                <a:solidFill>
                  <a:srgbClr val="1B211D"/>
                </a:solidFill>
                <a:latin typeface="IBM Plex Sans"/>
              </a:rPr>
              <a:t>Contratos</a:t>
            </a:r>
            <a:endParaRPr/>
          </a:p>
        </p:txBody>
      </p:sp>
      <p:sp>
        <p:nvSpPr>
          <p:cNvPr id="137511523" name="TextBox 17"/>
          <p:cNvSpPr txBox="1"/>
          <p:nvPr/>
        </p:nvSpPr>
        <p:spPr bwMode="auto">
          <a:xfrm>
            <a:off x="658368" y="45720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Alta, edición y baja de contratos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Flujo de aprobación: pendiente → aprobado / rechazado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Cierre automático por fecha de fin (job programado)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Filtrado por empleado y por contrato activo</a:t>
            </a:r>
            <a:endParaRPr/>
          </a:p>
        </p:txBody>
      </p:sp>
      <p:sp>
        <p:nvSpPr>
          <p:cNvPr id="954788819" name="Rounded Rectangle 18"/>
          <p:cNvSpPr/>
          <p:nvPr/>
        </p:nvSpPr>
        <p:spPr bwMode="auto">
          <a:xfrm>
            <a:off x="6172200" y="4023360"/>
            <a:ext cx="5486400" cy="1783080"/>
          </a:xfrm>
          <a:prstGeom prst="roundRect">
            <a:avLst>
              <a:gd name="adj" fmla="val 3000"/>
            </a:avLst>
          </a:prstGeom>
          <a:solidFill>
            <a:srgbClr val="F8F9F6"/>
          </a:solidFill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99448681" name="Oval 19"/>
          <p:cNvSpPr/>
          <p:nvPr/>
        </p:nvSpPr>
        <p:spPr bwMode="auto">
          <a:xfrm>
            <a:off x="6373368" y="4270248"/>
            <a:ext cx="82296" cy="82296"/>
          </a:xfrm>
          <a:prstGeom prst="ellipse">
            <a:avLst/>
          </a:prstGeom>
          <a:solidFill>
            <a:srgbClr val="2F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287544" name="TextBox 20"/>
          <p:cNvSpPr txBox="1"/>
          <p:nvPr/>
        </p:nvSpPr>
        <p:spPr bwMode="auto">
          <a:xfrm>
            <a:off x="6537960" y="4160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400" b="1" i="0">
                <a:solidFill>
                  <a:srgbClr val="1B211D"/>
                </a:solidFill>
                <a:latin typeface="IBM Plex Sans"/>
              </a:rPr>
              <a:t>Auditoría y control</a:t>
            </a:r>
            <a:endParaRPr/>
          </a:p>
        </p:txBody>
      </p:sp>
      <p:sp>
        <p:nvSpPr>
          <p:cNvPr id="889541133" name="TextBox 21"/>
          <p:cNvSpPr txBox="1"/>
          <p:nvPr/>
        </p:nvSpPr>
        <p:spPr bwMode="auto">
          <a:xfrm>
            <a:off x="6373368" y="45720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Registro de cada acción: quién, qué, cuándo y cambios antes/después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Rutas protegidas por middleware de autorización</a:t>
            </a:r>
            <a:endParaRPr/>
          </a:p>
          <a:p>
            <a:pPr>
              <a:spcAft>
                <a:spcPts val="300"/>
              </a:spcAft>
              <a:defRPr/>
            </a:pPr>
            <a:r>
              <a:rPr sz="1050" b="0" i="0">
                <a:solidFill>
                  <a:srgbClr val="55605A"/>
                </a:solidFill>
                <a:latin typeface="IBM Plex Sans"/>
              </a:rPr>
              <a:t>•  Panel de auditoría consultable por administración</a:t>
            </a:r>
            <a:endParaRPr/>
          </a:p>
        </p:txBody>
      </p:sp>
      <p:sp>
        <p:nvSpPr>
          <p:cNvPr id="2075053043" name="Rounded Rectangle 22"/>
          <p:cNvSpPr/>
          <p:nvPr/>
        </p:nvSpPr>
        <p:spPr bwMode="auto">
          <a:xfrm>
            <a:off x="457200" y="5943600"/>
            <a:ext cx="1920239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/>
            </a:pPr>
            <a:r>
              <a:rPr sz="950" b="0" i="0">
                <a:solidFill>
                  <a:srgbClr val="55605A"/>
                </a:solidFill>
                <a:latin typeface="Consolas"/>
              </a:rPr>
              <a:t>ADMIN — acceso total</a:t>
            </a:r>
            <a:endParaRPr/>
          </a:p>
        </p:txBody>
      </p:sp>
      <p:sp>
        <p:nvSpPr>
          <p:cNvPr id="311264531" name="Rounded Rectangle 23"/>
          <p:cNvSpPr/>
          <p:nvPr/>
        </p:nvSpPr>
        <p:spPr bwMode="auto">
          <a:xfrm>
            <a:off x="2487167" y="5943600"/>
            <a:ext cx="3072384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/>
            </a:pPr>
            <a:r>
              <a:rPr sz="950" b="0" i="0">
                <a:solidFill>
                  <a:srgbClr val="55605A"/>
                </a:solidFill>
                <a:latin typeface="Consolas"/>
              </a:rPr>
              <a:t>HR_MANAGER — empleados y contratos</a:t>
            </a:r>
            <a:endParaRPr/>
          </a:p>
        </p:txBody>
      </p:sp>
      <p:sp>
        <p:nvSpPr>
          <p:cNvPr id="1380296319" name="Rounded Rectangle 24"/>
          <p:cNvSpPr/>
          <p:nvPr/>
        </p:nvSpPr>
        <p:spPr bwMode="auto">
          <a:xfrm>
            <a:off x="5669279" y="5943600"/>
            <a:ext cx="2331720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/>
            </a:pPr>
            <a:r>
              <a:rPr sz="950" b="0" i="0">
                <a:solidFill>
                  <a:srgbClr val="55605A"/>
                </a:solidFill>
                <a:latin typeface="Consolas"/>
              </a:rPr>
              <a:t>MANAGER — su departamento</a:t>
            </a:r>
            <a:endParaRPr/>
          </a:p>
        </p:txBody>
      </p:sp>
      <p:sp>
        <p:nvSpPr>
          <p:cNvPr id="530703941" name="Rounded Rectangle 25"/>
          <p:cNvSpPr/>
          <p:nvPr/>
        </p:nvSpPr>
        <p:spPr bwMode="auto">
          <a:xfrm>
            <a:off x="8110727" y="5943600"/>
            <a:ext cx="2907791" cy="310896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BD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rIns="50800" rtlCol="0" anchor="ctr"/>
          <a:lstStyle/>
          <a:p>
            <a:pPr algn="ctr">
              <a:defRPr/>
            </a:pPr>
            <a:r>
              <a:rPr sz="950" b="0" i="0">
                <a:solidFill>
                  <a:srgbClr val="55605A"/>
                </a:solidFill>
                <a:latin typeface="Consolas"/>
              </a:rPr>
              <a:t>EMPLOYEE — su propia información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EDEFE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54916" name="TextBox 1"/>
          <p:cNvSpPr txBox="1"/>
          <p:nvPr/>
        </p:nvSpPr>
        <p:spPr bwMode="auto"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100" b="0" i="0">
                <a:solidFill>
                  <a:srgbClr val="55605A"/>
                </a:solidFill>
                <a:latin typeface="Consolas"/>
              </a:rPr>
              <a:t>Gestión de Empleados — TFM</a:t>
            </a:r>
            <a:endParaRPr/>
          </a:p>
        </p:txBody>
      </p:sp>
      <p:sp>
        <p:nvSpPr>
          <p:cNvPr id="471292439" name="TextBox 2"/>
          <p:cNvSpPr txBox="1"/>
          <p:nvPr/>
        </p:nvSpPr>
        <p:spPr bwMode="auto">
          <a:xfrm>
            <a:off x="10515600" y="274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sz="1100" b="0" i="0">
                <a:solidFill>
                  <a:srgbClr val="55605A"/>
                </a:solidFill>
                <a:latin typeface="Consolas"/>
              </a:rPr>
              <a:t>03 / 03</a:t>
            </a:r>
            <a:endParaRPr/>
          </a:p>
        </p:txBody>
      </p:sp>
      <p:cxnSp>
        <p:nvCxnSpPr>
          <p:cNvPr id="1643012216" name="Connector 3"/>
          <p:cNvCxnSpPr/>
          <p:nvPr/>
        </p:nvCxnSpPr>
        <p:spPr bwMode="auto"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CBD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8651616" name="TextBox 4"/>
          <p:cNvSpPr txBox="1"/>
          <p:nvPr/>
        </p:nvSpPr>
        <p:spPr bwMode="auto">
          <a:xfrm>
            <a:off x="45720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3400" b="1" i="0">
                <a:solidFill>
                  <a:srgbClr val="1B211D"/>
                </a:solidFill>
                <a:latin typeface="Archivo Black"/>
              </a:rPr>
              <a:t>Esquema de datos</a:t>
            </a:r>
            <a:endParaRPr/>
          </a:p>
        </p:txBody>
      </p:sp>
      <p:sp>
        <p:nvSpPr>
          <p:cNvPr id="968996214" name="TextBox 5"/>
          <p:cNvSpPr txBox="1"/>
          <p:nvPr/>
        </p:nvSpPr>
        <p:spPr bwMode="auto">
          <a:xfrm>
            <a:off x="457200" y="141731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300" b="0" i="0">
                <a:solidFill>
                  <a:srgbClr val="55605A"/>
                </a:solidFill>
                <a:latin typeface="IBM Plex Sans"/>
              </a:rPr>
              <a:t>Colecciones MongoDB. Employee y Contract se relacionan 1:N; User y AuditLog registran quién hizo cada cambio, sobre cualquier entidad.</a:t>
            </a:r>
            <a:endParaRPr/>
          </a:p>
        </p:txBody>
      </p:sp>
      <p:sp>
        <p:nvSpPr>
          <p:cNvPr id="1317640429" name="Rectangle 6"/>
          <p:cNvSpPr/>
          <p:nvPr/>
        </p:nvSpPr>
        <p:spPr bwMode="auto">
          <a:xfrm>
            <a:off x="457200" y="1965960"/>
            <a:ext cx="3383280" cy="1920240"/>
          </a:xfrm>
          <a:prstGeom prst="rect">
            <a:avLst/>
          </a:prstGeom>
          <a:noFill/>
          <a:ln w="12700">
            <a:solidFill>
              <a:srgbClr val="1B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06459420" name="Rectangle 7"/>
          <p:cNvSpPr/>
          <p:nvPr/>
        </p:nvSpPr>
        <p:spPr bwMode="auto">
          <a:xfrm>
            <a:off x="457200" y="1965960"/>
            <a:ext cx="3383280" cy="320040"/>
          </a:xfrm>
          <a:prstGeom prst="rect">
            <a:avLst/>
          </a:prstGeom>
          <a:solidFill>
            <a:srgbClr val="DD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>
              <a:defRPr/>
            </a:pPr>
            <a:r>
              <a:rPr sz="1300" b="1" i="0">
                <a:solidFill>
                  <a:srgbClr val="1B211D"/>
                </a:solidFill>
                <a:latin typeface="Archivo Black"/>
              </a:rPr>
              <a:t>Employee</a:t>
            </a:r>
            <a:endParaRPr/>
          </a:p>
        </p:txBody>
      </p:sp>
      <p:sp>
        <p:nvSpPr>
          <p:cNvPr id="456955271" name="TextBox 8"/>
          <p:cNvSpPr txBox="1"/>
          <p:nvPr/>
        </p:nvSpPr>
        <p:spPr bwMode="auto">
          <a:xfrm>
            <a:off x="566928" y="2350008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_id  ObjectId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name, surname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nif  String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email  String · unique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phone  String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city, province, country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timestamps: createdAt, updatedAt</a:t>
            </a:r>
            <a:endParaRPr/>
          </a:p>
        </p:txBody>
      </p:sp>
      <p:sp>
        <p:nvSpPr>
          <p:cNvPr id="1058216297" name="Rectangle 9"/>
          <p:cNvSpPr/>
          <p:nvPr/>
        </p:nvSpPr>
        <p:spPr bwMode="auto">
          <a:xfrm>
            <a:off x="5943599" y="1805940"/>
            <a:ext cx="3931920" cy="2286000"/>
          </a:xfrm>
          <a:prstGeom prst="rect">
            <a:avLst/>
          </a:prstGeom>
          <a:noFill/>
          <a:ln w="12700">
            <a:solidFill>
              <a:srgbClr val="1B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63049179" name="Rectangle 10"/>
          <p:cNvSpPr/>
          <p:nvPr/>
        </p:nvSpPr>
        <p:spPr bwMode="auto">
          <a:xfrm>
            <a:off x="5943599" y="1805940"/>
            <a:ext cx="3931920" cy="320040"/>
          </a:xfrm>
          <a:prstGeom prst="rect">
            <a:avLst/>
          </a:prstGeom>
          <a:solidFill>
            <a:srgbClr val="DD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>
              <a:defRPr/>
            </a:pPr>
            <a:r>
              <a:rPr sz="1300" b="1" i="0">
                <a:solidFill>
                  <a:srgbClr val="1B211D"/>
                </a:solidFill>
                <a:latin typeface="Archivo Black"/>
              </a:rPr>
              <a:t>Contract</a:t>
            </a:r>
            <a:endParaRPr/>
          </a:p>
        </p:txBody>
      </p:sp>
      <p:sp>
        <p:nvSpPr>
          <p:cNvPr id="948131041" name="TextBox 11"/>
          <p:cNvSpPr txBox="1"/>
          <p:nvPr/>
        </p:nvSpPr>
        <p:spPr bwMode="auto">
          <a:xfrm>
            <a:off x="6053328" y="2167128"/>
            <a:ext cx="371246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_id  ObjectId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employeeId  ref → Employee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contractType  enum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workdayType, salaryType  enum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salaryAmount  Number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startDate, endDate  Date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department, category, position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status  enum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PENDIENTE → APROBADO / RECHAZADO → FINALIZADO</a:t>
            </a:r>
            <a:endParaRPr/>
          </a:p>
        </p:txBody>
      </p:sp>
      <p:sp>
        <p:nvSpPr>
          <p:cNvPr id="738554959" name="Rectangle 12"/>
          <p:cNvSpPr/>
          <p:nvPr/>
        </p:nvSpPr>
        <p:spPr bwMode="auto">
          <a:xfrm>
            <a:off x="457200" y="4206240"/>
            <a:ext cx="3383280" cy="1737360"/>
          </a:xfrm>
          <a:prstGeom prst="rect">
            <a:avLst/>
          </a:prstGeom>
          <a:noFill/>
          <a:ln w="12700">
            <a:solidFill>
              <a:srgbClr val="1B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74861197" name="Rectangle 13"/>
          <p:cNvSpPr/>
          <p:nvPr/>
        </p:nvSpPr>
        <p:spPr bwMode="auto">
          <a:xfrm>
            <a:off x="457200" y="4206240"/>
            <a:ext cx="3383280" cy="320040"/>
          </a:xfrm>
          <a:prstGeom prst="rect">
            <a:avLst/>
          </a:prstGeom>
          <a:solidFill>
            <a:srgbClr val="DD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>
              <a:defRPr/>
            </a:pPr>
            <a:r>
              <a:rPr sz="1300" b="1" i="0">
                <a:solidFill>
                  <a:srgbClr val="1B211D"/>
                </a:solidFill>
                <a:latin typeface="Archivo Black"/>
              </a:rPr>
              <a:t>User</a:t>
            </a:r>
            <a:endParaRPr/>
          </a:p>
        </p:txBody>
      </p:sp>
      <p:sp>
        <p:nvSpPr>
          <p:cNvPr id="1703081280" name="TextBox 14"/>
          <p:cNvSpPr txBox="1"/>
          <p:nvPr/>
        </p:nvSpPr>
        <p:spPr bwMode="auto">
          <a:xfrm>
            <a:off x="566928" y="4590288"/>
            <a:ext cx="316382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_id  ObjectId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email  String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password  String · hidden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role  enum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isActive, name</a:t>
            </a:r>
            <a:endParaRPr/>
          </a:p>
        </p:txBody>
      </p:sp>
      <p:sp>
        <p:nvSpPr>
          <p:cNvPr id="65251655" name="Rectangle 15"/>
          <p:cNvSpPr/>
          <p:nvPr/>
        </p:nvSpPr>
        <p:spPr bwMode="auto">
          <a:xfrm>
            <a:off x="5943600" y="4150754"/>
            <a:ext cx="3931920" cy="1920240"/>
          </a:xfrm>
          <a:prstGeom prst="rect">
            <a:avLst/>
          </a:prstGeom>
          <a:noFill/>
          <a:ln w="12700">
            <a:solidFill>
              <a:srgbClr val="1B21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00431008" name="Rectangle 16"/>
          <p:cNvSpPr/>
          <p:nvPr/>
        </p:nvSpPr>
        <p:spPr bwMode="auto">
          <a:xfrm>
            <a:off x="5943599" y="4150754"/>
            <a:ext cx="3931920" cy="320040"/>
          </a:xfrm>
          <a:prstGeom prst="rect">
            <a:avLst/>
          </a:prstGeom>
          <a:solidFill>
            <a:srgbClr val="DD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ctr">
              <a:defRPr/>
            </a:pPr>
            <a:r>
              <a:rPr sz="1300" b="1" i="0">
                <a:solidFill>
                  <a:srgbClr val="1B211D"/>
                </a:solidFill>
                <a:latin typeface="Archivo Black"/>
              </a:rPr>
              <a:t>AuditLog</a:t>
            </a:r>
            <a:endParaRPr/>
          </a:p>
        </p:txBody>
      </p:sp>
      <p:sp>
        <p:nvSpPr>
          <p:cNvPr id="1859816952" name="TextBox 17"/>
          <p:cNvSpPr txBox="1"/>
          <p:nvPr/>
        </p:nvSpPr>
        <p:spPr bwMode="auto">
          <a:xfrm>
            <a:off x="6053328" y="4526279"/>
            <a:ext cx="371246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userId  ref → User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action  enum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entityType, entityId  poly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changes.before / after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ipAddress, userAgent</a:t>
            </a:r>
            <a:endParaRPr/>
          </a:p>
          <a:p>
            <a:pPr>
              <a:spcAft>
                <a:spcPts val="200"/>
              </a:spcAft>
              <a:defRPr/>
            </a:pPr>
            <a:r>
              <a:rPr sz="1000" b="0" i="0">
                <a:solidFill>
                  <a:srgbClr val="55605A"/>
                </a:solidFill>
                <a:latin typeface="Consolas"/>
              </a:rPr>
              <a:t>createdAt  Date</a:t>
            </a:r>
            <a:endParaRPr/>
          </a:p>
        </p:txBody>
      </p:sp>
      <p:cxnSp>
        <p:nvCxnSpPr>
          <p:cNvPr id="2145523050" name="Connector 18"/>
          <p:cNvCxnSpPr/>
          <p:nvPr/>
        </p:nvCxnSpPr>
        <p:spPr bwMode="auto">
          <a:xfrm flipH="0" flipV="0">
            <a:off x="3840480" y="2926080"/>
            <a:ext cx="2103120" cy="0"/>
          </a:xfrm>
          <a:prstGeom prst="line">
            <a:avLst/>
          </a:prstGeom>
          <a:ln w="15875">
            <a:solidFill>
              <a:srgbClr val="1B21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617429" name="TextBox 19"/>
          <p:cNvSpPr txBox="1"/>
          <p:nvPr/>
        </p:nvSpPr>
        <p:spPr bwMode="auto">
          <a:xfrm>
            <a:off x="4480559" y="269748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605A"/>
                </a:solidFill>
                <a:latin typeface="Consolas"/>
              </a:rPr>
              <a:t>1:N tiene</a:t>
            </a:r>
            <a:endParaRPr/>
          </a:p>
        </p:txBody>
      </p:sp>
      <p:cxnSp>
        <p:nvCxnSpPr>
          <p:cNvPr id="991886307" name="Connector 20"/>
          <p:cNvCxnSpPr/>
          <p:nvPr/>
        </p:nvCxnSpPr>
        <p:spPr bwMode="auto">
          <a:xfrm flipH="0" flipV="0">
            <a:off x="3840480" y="5074920"/>
            <a:ext cx="2103120" cy="0"/>
          </a:xfrm>
          <a:prstGeom prst="line">
            <a:avLst/>
          </a:prstGeom>
          <a:ln w="15875">
            <a:solidFill>
              <a:srgbClr val="1B21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1262106" name="TextBox 21"/>
          <p:cNvSpPr txBox="1"/>
          <p:nvPr/>
        </p:nvSpPr>
        <p:spPr bwMode="auto">
          <a:xfrm>
            <a:off x="4391709" y="4800081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900" b="0" i="0">
                <a:solidFill>
                  <a:srgbClr val="55605A"/>
                </a:solidFill>
                <a:latin typeface="Consolas"/>
              </a:rPr>
              <a:t>1:N genera</a:t>
            </a:r>
            <a:endParaRPr/>
          </a:p>
        </p:txBody>
      </p:sp>
      <p:cxnSp>
        <p:nvCxnSpPr>
          <p:cNvPr id="2041931021" name="Connector 22"/>
          <p:cNvCxnSpPr/>
          <p:nvPr/>
        </p:nvCxnSpPr>
        <p:spPr bwMode="auto">
          <a:xfrm>
            <a:off x="6035039" y="4206240"/>
            <a:ext cx="0" cy="45720"/>
          </a:xfrm>
          <a:prstGeom prst="line">
            <a:avLst/>
          </a:prstGeom>
          <a:ln w="12700">
            <a:solidFill>
              <a:srgbClr val="1B211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44331238" name="TextBox 23"/>
          <p:cNvSpPr txBox="1"/>
          <p:nvPr/>
        </p:nvSpPr>
        <p:spPr bwMode="auto">
          <a:xfrm>
            <a:off x="457200" y="6172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sz="1000" b="0" i="0">
                <a:solidFill>
                  <a:srgbClr val="55605A"/>
                </a:solidFill>
                <a:latin typeface="IBM Plex Sans"/>
              </a:rPr>
              <a:t>Employee y Contract mantienen una relación explícita (referencia por employeeId). User y AuditLog registran la trazabilidad: cada log referencia al usuario que actuó y, de forma polimórfica (entityType + entityId), a la entidad afectada.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2026-09-08T10:01:13Z</dcterms:modified>
  <cp:category/>
</cp:coreProperties>
</file>